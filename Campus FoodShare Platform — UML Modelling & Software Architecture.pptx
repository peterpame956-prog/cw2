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1338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82187-6EF3-B65F-98C1-6E5D7570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546FFF-5624-FE6E-056D-C31AD7F01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2BFCC4-78C7-6EB3-818B-B6F3B3C74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4435A-4AC5-A6A9-3FCB-EB7DC40188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048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6200"/>
            <a:ext cx="8128000" cy="90678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889000" y="2794000"/>
            <a:ext cx="635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Campus FoodShare</a:t>
            </a:r>
            <a:endParaRPr lang="en-US" sz="4400" dirty="0"/>
          </a:p>
          <a:p>
            <a:pPr algn="l">
              <a:lnSpc>
                <a:spcPct val="13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89000" y="4699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UML Modelling &amp; Software Architecture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89000" y="5461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889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FSE Coursework 2 | June 2026</a:t>
            </a:r>
          </a:p>
          <a:p>
            <a:pPr algn="l">
              <a:lnSpc>
                <a:spcPct val="120000"/>
              </a:lnSpc>
            </a:pPr>
            <a:r>
              <a:rPr lang="en-US" altLang="zh-CN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</a:rPr>
              <a:t>Zong Ji</a:t>
            </a:r>
          </a:p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</a:rPr>
              <a:t>M0507732R</a:t>
            </a:r>
          </a:p>
        </p:txBody>
      </p:sp>
      <p:sp>
        <p:nvSpPr>
          <p:cNvPr id="8" name="Text 6"/>
          <p:cNvSpPr/>
          <p:nvPr/>
        </p:nvSpPr>
        <p:spPr>
          <a:xfrm>
            <a:off x="9144000" y="2286000"/>
            <a:ext cx="609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F0F0F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10668000" y="4318000"/>
            <a:ext cx="2540000" cy="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398000" y="4699000"/>
            <a:ext cx="584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9999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University Surplus Food Donation &amp; Redistribution Platform — Design Documentation and Technical Specification</a:t>
            </a:r>
            <a:endParaRPr 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0834007" y="7323364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270000"/>
            <a:ext cx="4699000" cy="660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000" y="152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89000" y="2222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Introduction &amp; UML Modelling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89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889000" y="29845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Project scope and stakeholder overview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Use case diagram with 4 actor groups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Class diagram with 4 domain entities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Full traceability to CW1 requirements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78500" y="1270000"/>
            <a:ext cx="4699000" cy="660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2500" y="152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2500" y="2222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Software Architecture Design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325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6032500" y="29845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Layered N-Tier architecture with MVC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System architecture block diagram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Component roles and communication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Unit test cases for all domain classes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922000" y="1270000"/>
            <a:ext cx="4699000" cy="660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76000" y="1524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1176000" y="2222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Justification &amp; QA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1176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11176000" y="29845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Key design trade-off analysis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Three-tier testing strategy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Limitations and future improvements</a:t>
            </a:r>
            <a:endParaRPr lang="en-US" sz="15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CW1 requirements alignment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000" y="8191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2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8070850" y="6552168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&amp; UML Modelling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5080000"/>
            <a:ext cx="2540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scope, stakeholder alignment, and UML diagram specifications</a:t>
            </a:r>
            <a:endParaRPr lang="en-US" sz="1600" dirty="0"/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8707665" y="7326477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Campus FoodShare connects donors, recipients, and administrators across campus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7112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000" y="1206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Platform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9000" y="16256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Campus FoodShare is a </a:t>
            </a: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university surplus food donation and redistribution platform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designed to reduce campus food waste while supporting food-insecure students and staff.</a:t>
            </a:r>
            <a:endParaRPr lang="en-US" sz="14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platform enables food donors (cafeterias, event organizers) to list surplus items, recipients to browse and claim donations, and administrators to moderate content and manage users.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0" y="10795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28000" y="1079500"/>
            <a:ext cx="35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0" name="Text 8"/>
          <p:cNvSpPr/>
          <p:nvPr/>
        </p:nvSpPr>
        <p:spPr>
          <a:xfrm>
            <a:off x="8382000" y="1270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382000" y="19304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Stakeholder Groups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065000" y="1079500"/>
            <a:ext cx="3556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65000" y="1079500"/>
            <a:ext cx="35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4" name="Text 12"/>
          <p:cNvSpPr/>
          <p:nvPr/>
        </p:nvSpPr>
        <p:spPr>
          <a:xfrm>
            <a:off x="12319000" y="1270000"/>
            <a:ext cx="304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319000" y="1930400"/>
            <a:ext cx="304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Use Cases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0" y="2857500"/>
            <a:ext cx="7493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2000" y="2984500"/>
            <a:ext cx="698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CW2 Deliverables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82000" y="3327400"/>
            <a:ext cx="698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UML use case and class diagrams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Software architecture design and evaluation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Unit test cases and version control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Platform Workflows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" y="5143500"/>
            <a:ext cx="3556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9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040" y="8573"/>
                </a:moveTo>
                <a:cubicBezTo>
                  <a:pt x="37564" y="3691"/>
                  <a:pt x="33457" y="0"/>
                  <a:pt x="28575" y="0"/>
                </a:cubicBezTo>
                <a:cubicBezTo>
                  <a:pt x="23693" y="0"/>
                  <a:pt x="19586" y="3691"/>
                  <a:pt x="19050" y="8513"/>
                </a:cubicBezTo>
                <a:lnTo>
                  <a:pt x="10656" y="89118"/>
                </a:lnTo>
                <a:cubicBezTo>
                  <a:pt x="9882" y="92690"/>
                  <a:pt x="9525" y="96322"/>
                  <a:pt x="9525" y="99953"/>
                </a:cubicBezTo>
                <a:cubicBezTo>
                  <a:pt x="9525" y="127278"/>
                  <a:pt x="30420" y="149721"/>
                  <a:pt x="57150" y="152162"/>
                </a:cubicBezTo>
                <a:lnTo>
                  <a:pt x="57150" y="285750"/>
                </a:lnTo>
                <a:cubicBezTo>
                  <a:pt x="57150" y="296287"/>
                  <a:pt x="65663" y="304800"/>
                  <a:pt x="76200" y="304800"/>
                </a:cubicBezTo>
                <a:cubicBezTo>
                  <a:pt x="86737" y="304800"/>
                  <a:pt x="95250" y="296287"/>
                  <a:pt x="95250" y="285750"/>
                </a:cubicBezTo>
                <a:lnTo>
                  <a:pt x="95250" y="152162"/>
                </a:lnTo>
                <a:cubicBezTo>
                  <a:pt x="121980" y="149721"/>
                  <a:pt x="142875" y="127278"/>
                  <a:pt x="142875" y="99953"/>
                </a:cubicBezTo>
                <a:cubicBezTo>
                  <a:pt x="142875" y="96322"/>
                  <a:pt x="142518" y="92690"/>
                  <a:pt x="141744" y="89118"/>
                </a:cubicBezTo>
                <a:lnTo>
                  <a:pt x="133290" y="8513"/>
                </a:lnTo>
                <a:cubicBezTo>
                  <a:pt x="132814" y="3691"/>
                  <a:pt x="128707" y="0"/>
                  <a:pt x="123825" y="0"/>
                </a:cubicBezTo>
                <a:cubicBezTo>
                  <a:pt x="118943" y="0"/>
                  <a:pt x="114836" y="3691"/>
                  <a:pt x="114360" y="8573"/>
                </a:cubicBezTo>
                <a:lnTo>
                  <a:pt x="106263" y="89237"/>
                </a:lnTo>
                <a:cubicBezTo>
                  <a:pt x="105906" y="92631"/>
                  <a:pt x="103049" y="95250"/>
                  <a:pt x="99655" y="95250"/>
                </a:cubicBezTo>
                <a:cubicBezTo>
                  <a:pt x="96203" y="95250"/>
                  <a:pt x="93345" y="92631"/>
                  <a:pt x="92988" y="89178"/>
                </a:cubicBezTo>
                <a:lnTo>
                  <a:pt x="85665" y="8692"/>
                </a:lnTo>
                <a:cubicBezTo>
                  <a:pt x="85249" y="3750"/>
                  <a:pt x="81141" y="0"/>
                  <a:pt x="76200" y="0"/>
                </a:cubicBezTo>
                <a:cubicBezTo>
                  <a:pt x="71259" y="0"/>
                  <a:pt x="67151" y="3750"/>
                  <a:pt x="66735" y="8692"/>
                </a:cubicBezTo>
                <a:lnTo>
                  <a:pt x="59412" y="89178"/>
                </a:lnTo>
                <a:cubicBezTo>
                  <a:pt x="59115" y="92631"/>
                  <a:pt x="56197" y="95250"/>
                  <a:pt x="52745" y="95250"/>
                </a:cubicBezTo>
                <a:cubicBezTo>
                  <a:pt x="49292" y="95250"/>
                  <a:pt x="46434" y="92631"/>
                  <a:pt x="46137" y="89237"/>
                </a:cubicBezTo>
                <a:lnTo>
                  <a:pt x="38040" y="8573"/>
                </a:lnTo>
                <a:close/>
                <a:moveTo>
                  <a:pt x="266700" y="0"/>
                </a:moveTo>
                <a:cubicBezTo>
                  <a:pt x="257175" y="0"/>
                  <a:pt x="190500" y="19050"/>
                  <a:pt x="190500" y="104775"/>
                </a:cubicBezTo>
                <a:lnTo>
                  <a:pt x="190500" y="171450"/>
                </a:lnTo>
                <a:cubicBezTo>
                  <a:pt x="190500" y="192465"/>
                  <a:pt x="207585" y="209550"/>
                  <a:pt x="228600" y="209550"/>
                </a:cubicBezTo>
                <a:lnTo>
                  <a:pt x="247650" y="209550"/>
                </a:lnTo>
                <a:lnTo>
                  <a:pt x="247650" y="285750"/>
                </a:lnTo>
                <a:cubicBezTo>
                  <a:pt x="247650" y="296287"/>
                  <a:pt x="256163" y="304800"/>
                  <a:pt x="266700" y="304800"/>
                </a:cubicBezTo>
                <a:cubicBezTo>
                  <a:pt x="277237" y="304800"/>
                  <a:pt x="285750" y="296287"/>
                  <a:pt x="285750" y="285750"/>
                </a:cubicBezTo>
                <a:lnTo>
                  <a:pt x="285750" y="19050"/>
                </a:lnTo>
                <a:cubicBezTo>
                  <a:pt x="285750" y="8513"/>
                  <a:pt x="277237" y="0"/>
                  <a:pt x="266700" y="0"/>
                </a:cubicBez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5334000"/>
            <a:ext cx="266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Listing Creation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9000" y="5778500"/>
            <a:ext cx="304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Donors create food listings with quantity, collection time window, and location. Listings automatically expire after the collection window closes.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45000" y="5143500"/>
            <a:ext cx="3556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9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955" y="18455"/>
                </a:moveTo>
                <a:cubicBezTo>
                  <a:pt x="140494" y="6846"/>
                  <a:pt x="128535" y="0"/>
                  <a:pt x="115835" y="0"/>
                </a:cubicBezTo>
                <a:cubicBezTo>
                  <a:pt x="93927" y="0"/>
                  <a:pt x="76200" y="19943"/>
                  <a:pt x="76200" y="44589"/>
                </a:cubicBezTo>
                <a:lnTo>
                  <a:pt x="76200" y="46018"/>
                </a:lnTo>
                <a:cubicBezTo>
                  <a:pt x="76200" y="84356"/>
                  <a:pt x="119592" y="125432"/>
                  <a:pt x="140864" y="143232"/>
                </a:cubicBezTo>
                <a:cubicBezTo>
                  <a:pt x="147743" y="149007"/>
                  <a:pt x="157004" y="149007"/>
                  <a:pt x="163883" y="143232"/>
                </a:cubicBezTo>
                <a:cubicBezTo>
                  <a:pt x="185155" y="125373"/>
                  <a:pt x="228547" y="84356"/>
                  <a:pt x="228547" y="46018"/>
                </a:cubicBezTo>
                <a:lnTo>
                  <a:pt x="228547" y="44589"/>
                </a:lnTo>
                <a:cubicBezTo>
                  <a:pt x="228547" y="19943"/>
                  <a:pt x="210820" y="0"/>
                  <a:pt x="188913" y="0"/>
                </a:cubicBezTo>
                <a:cubicBezTo>
                  <a:pt x="176212" y="0"/>
                  <a:pt x="164253" y="6846"/>
                  <a:pt x="156792" y="18455"/>
                </a:cubicBezTo>
                <a:lnTo>
                  <a:pt x="152400" y="25420"/>
                </a:lnTo>
                <a:lnTo>
                  <a:pt x="147955" y="18455"/>
                </a:lnTo>
                <a:close/>
                <a:moveTo>
                  <a:pt x="57838" y="203299"/>
                </a:moveTo>
                <a:lnTo>
                  <a:pt x="35295" y="228600"/>
                </a:lnTo>
                <a:lnTo>
                  <a:pt x="16933" y="228600"/>
                </a:lnTo>
                <a:cubicBezTo>
                  <a:pt x="7567" y="228600"/>
                  <a:pt x="0" y="237113"/>
                  <a:pt x="0" y="247650"/>
                </a:cubicBezTo>
                <a:lnTo>
                  <a:pt x="0" y="285750"/>
                </a:lnTo>
                <a:cubicBezTo>
                  <a:pt x="0" y="296287"/>
                  <a:pt x="7567" y="304800"/>
                  <a:pt x="16933" y="304800"/>
                </a:cubicBezTo>
                <a:lnTo>
                  <a:pt x="186531" y="304800"/>
                </a:lnTo>
                <a:cubicBezTo>
                  <a:pt x="201877" y="304800"/>
                  <a:pt x="216853" y="299264"/>
                  <a:pt x="229235" y="289024"/>
                </a:cubicBezTo>
                <a:lnTo>
                  <a:pt x="296227" y="233482"/>
                </a:lnTo>
                <a:cubicBezTo>
                  <a:pt x="305647" y="225683"/>
                  <a:pt x="307658" y="210800"/>
                  <a:pt x="300725" y="200204"/>
                </a:cubicBezTo>
                <a:cubicBezTo>
                  <a:pt x="293793" y="189607"/>
                  <a:pt x="280564" y="187345"/>
                  <a:pt x="271145" y="195143"/>
                </a:cubicBezTo>
                <a:lnTo>
                  <a:pt x="207751" y="247650"/>
                </a:lnTo>
                <a:lnTo>
                  <a:pt x="148167" y="247650"/>
                </a:lnTo>
                <a:cubicBezTo>
                  <a:pt x="141129" y="247650"/>
                  <a:pt x="135467" y="241280"/>
                  <a:pt x="135467" y="233363"/>
                </a:cubicBezTo>
                <a:cubicBezTo>
                  <a:pt x="135467" y="225445"/>
                  <a:pt x="141129" y="219075"/>
                  <a:pt x="148167" y="219075"/>
                </a:cubicBezTo>
                <a:lnTo>
                  <a:pt x="186267" y="219075"/>
                </a:lnTo>
                <a:cubicBezTo>
                  <a:pt x="195633" y="219075"/>
                  <a:pt x="203200" y="210562"/>
                  <a:pt x="203200" y="200025"/>
                </a:cubicBezTo>
                <a:cubicBezTo>
                  <a:pt x="203200" y="189488"/>
                  <a:pt x="195633" y="180975"/>
                  <a:pt x="186267" y="180975"/>
                </a:cubicBezTo>
                <a:lnTo>
                  <a:pt x="105728" y="180975"/>
                </a:lnTo>
                <a:cubicBezTo>
                  <a:pt x="87789" y="180975"/>
                  <a:pt x="70538" y="189012"/>
                  <a:pt x="57838" y="203299"/>
                </a:cubicBez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26" name="Text 24"/>
          <p:cNvSpPr/>
          <p:nvPr/>
        </p:nvSpPr>
        <p:spPr>
          <a:xfrm>
            <a:off x="5105400" y="5334000"/>
            <a:ext cx="266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Claim Management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99000" y="5778500"/>
            <a:ext cx="304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Recipients browse active listings and submit claims. Each listing can only have one active claim to ensure fair distribution.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55000" y="5143500"/>
            <a:ext cx="3556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09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30" name="Text 28"/>
          <p:cNvSpPr/>
          <p:nvPr/>
        </p:nvSpPr>
        <p:spPr>
          <a:xfrm>
            <a:off x="8915400" y="5334000"/>
            <a:ext cx="266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09000" y="5778500"/>
            <a:ext cx="304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Users report inappropriate listings. Admins review reports and take action. The system sends notifications for all key events.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2065000" y="5143500"/>
            <a:ext cx="3556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3190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40358" y="0"/>
                  <a:pt x="130629" y="8513"/>
                  <a:pt x="130629" y="19050"/>
                </a:cubicBezTo>
                <a:lnTo>
                  <a:pt x="130629" y="20955"/>
                </a:lnTo>
                <a:cubicBezTo>
                  <a:pt x="80962" y="29766"/>
                  <a:pt x="43543" y="68223"/>
                  <a:pt x="43543" y="114300"/>
                </a:cubicBezTo>
                <a:lnTo>
                  <a:pt x="43543" y="127218"/>
                </a:lnTo>
                <a:cubicBezTo>
                  <a:pt x="43543" y="155853"/>
                  <a:pt x="32385" y="183654"/>
                  <a:pt x="11974" y="206038"/>
                </a:cubicBezTo>
                <a:lnTo>
                  <a:pt x="5307" y="213300"/>
                </a:lnTo>
                <a:cubicBezTo>
                  <a:pt x="1837" y="217051"/>
                  <a:pt x="0" y="221694"/>
                  <a:pt x="0" y="226516"/>
                </a:cubicBezTo>
                <a:cubicBezTo>
                  <a:pt x="0" y="238185"/>
                  <a:pt x="10818" y="247650"/>
                  <a:pt x="24153" y="247650"/>
                </a:cubicBezTo>
                <a:lnTo>
                  <a:pt x="280579" y="247650"/>
                </a:lnTo>
                <a:cubicBezTo>
                  <a:pt x="293914" y="247650"/>
                  <a:pt x="304732" y="238185"/>
                  <a:pt x="304732" y="226516"/>
                </a:cubicBezTo>
                <a:cubicBezTo>
                  <a:pt x="304732" y="221694"/>
                  <a:pt x="302895" y="217051"/>
                  <a:pt x="299425" y="213300"/>
                </a:cubicBezTo>
                <a:lnTo>
                  <a:pt x="292758" y="206038"/>
                </a:lnTo>
                <a:cubicBezTo>
                  <a:pt x="272415" y="183654"/>
                  <a:pt x="261257" y="155853"/>
                  <a:pt x="261257" y="127218"/>
                </a:cubicBezTo>
                <a:lnTo>
                  <a:pt x="261257" y="114300"/>
                </a:lnTo>
                <a:cubicBezTo>
                  <a:pt x="261257" y="68223"/>
                  <a:pt x="223838" y="29766"/>
                  <a:pt x="174171" y="20955"/>
                </a:cubicBezTo>
                <a:lnTo>
                  <a:pt x="174171" y="19050"/>
                </a:lnTo>
                <a:cubicBezTo>
                  <a:pt x="174171" y="8513"/>
                  <a:pt x="164442" y="0"/>
                  <a:pt x="152400" y="0"/>
                </a:cubicBezTo>
                <a:close/>
                <a:moveTo>
                  <a:pt x="110218" y="276225"/>
                </a:moveTo>
                <a:cubicBezTo>
                  <a:pt x="115048" y="292656"/>
                  <a:pt x="132125" y="304800"/>
                  <a:pt x="152400" y="304800"/>
                </a:cubicBezTo>
                <a:cubicBezTo>
                  <a:pt x="172675" y="304800"/>
                  <a:pt x="189752" y="292656"/>
                  <a:pt x="194582" y="276225"/>
                </a:cubicBezTo>
                <a:lnTo>
                  <a:pt x="110218" y="276225"/>
                </a:ln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34" name="Text 32"/>
          <p:cNvSpPr/>
          <p:nvPr/>
        </p:nvSpPr>
        <p:spPr>
          <a:xfrm>
            <a:off x="12725400" y="5334000"/>
            <a:ext cx="266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Notifications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2319000" y="5778500"/>
            <a:ext cx="304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Automated alerts for claim status changes, listing expirations, and moderation updates keep all stakeholders informed.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7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2822464" y="8451334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diagram captures four core actor groups with 8 functional use cases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07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Actor Groups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" y="1524000"/>
            <a:ext cx="431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000" y="1524000"/>
            <a:ext cx="63500" cy="152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" y="1676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16417" y="13097"/>
                </a:moveTo>
                <a:cubicBezTo>
                  <a:pt x="116417" y="5839"/>
                  <a:pt x="121607" y="0"/>
                  <a:pt x="128058" y="0"/>
                </a:cubicBezTo>
                <a:lnTo>
                  <a:pt x="151342" y="0"/>
                </a:lnTo>
                <a:cubicBezTo>
                  <a:pt x="157793" y="0"/>
                  <a:pt x="162983" y="5839"/>
                  <a:pt x="162983" y="13097"/>
                </a:cubicBezTo>
                <a:lnTo>
                  <a:pt x="162983" y="43656"/>
                </a:lnTo>
                <a:lnTo>
                  <a:pt x="190147" y="43656"/>
                </a:lnTo>
                <a:cubicBezTo>
                  <a:pt x="196599" y="43656"/>
                  <a:pt x="201789" y="49495"/>
                  <a:pt x="201789" y="56753"/>
                </a:cubicBezTo>
                <a:lnTo>
                  <a:pt x="201789" y="82947"/>
                </a:lnTo>
                <a:cubicBezTo>
                  <a:pt x="201789" y="90205"/>
                  <a:pt x="196599" y="96044"/>
                  <a:pt x="190147" y="96044"/>
                </a:cubicBezTo>
                <a:lnTo>
                  <a:pt x="162983" y="96044"/>
                </a:lnTo>
                <a:lnTo>
                  <a:pt x="162983" y="126603"/>
                </a:lnTo>
                <a:cubicBezTo>
                  <a:pt x="162983" y="133861"/>
                  <a:pt x="157793" y="139700"/>
                  <a:pt x="151342" y="139700"/>
                </a:cubicBezTo>
                <a:lnTo>
                  <a:pt x="128058" y="139700"/>
                </a:lnTo>
                <a:cubicBezTo>
                  <a:pt x="121607" y="139700"/>
                  <a:pt x="116417" y="133861"/>
                  <a:pt x="116417" y="126603"/>
                </a:cubicBezTo>
                <a:lnTo>
                  <a:pt x="116417" y="96044"/>
                </a:lnTo>
                <a:lnTo>
                  <a:pt x="89253" y="96044"/>
                </a:lnTo>
                <a:cubicBezTo>
                  <a:pt x="82801" y="96044"/>
                  <a:pt x="77611" y="90205"/>
                  <a:pt x="77611" y="82947"/>
                </a:cubicBezTo>
                <a:lnTo>
                  <a:pt x="77611" y="56753"/>
                </a:lnTo>
                <a:cubicBezTo>
                  <a:pt x="77611" y="49495"/>
                  <a:pt x="82801" y="43656"/>
                  <a:pt x="89253" y="43656"/>
                </a:cubicBezTo>
                <a:lnTo>
                  <a:pt x="116417" y="43656"/>
                </a:lnTo>
                <a:lnTo>
                  <a:pt x="116417" y="13097"/>
                </a:lnTo>
                <a:close/>
                <a:moveTo>
                  <a:pt x="32354" y="209550"/>
                </a:moveTo>
                <a:lnTo>
                  <a:pt x="52970" y="186358"/>
                </a:lnTo>
                <a:cubicBezTo>
                  <a:pt x="64611" y="173261"/>
                  <a:pt x="80425" y="165894"/>
                  <a:pt x="96868" y="165894"/>
                </a:cubicBezTo>
                <a:lnTo>
                  <a:pt x="170744" y="165894"/>
                </a:lnTo>
                <a:cubicBezTo>
                  <a:pt x="179330" y="165894"/>
                  <a:pt x="186267" y="173697"/>
                  <a:pt x="186267" y="183356"/>
                </a:cubicBezTo>
                <a:cubicBezTo>
                  <a:pt x="186267" y="193015"/>
                  <a:pt x="179330" y="200819"/>
                  <a:pt x="170744" y="200819"/>
                </a:cubicBezTo>
                <a:lnTo>
                  <a:pt x="135819" y="200819"/>
                </a:lnTo>
                <a:cubicBezTo>
                  <a:pt x="129368" y="200819"/>
                  <a:pt x="124178" y="206658"/>
                  <a:pt x="124178" y="213916"/>
                </a:cubicBezTo>
                <a:cubicBezTo>
                  <a:pt x="124178" y="221173"/>
                  <a:pt x="129368" y="227013"/>
                  <a:pt x="135819" y="227013"/>
                </a:cubicBezTo>
                <a:lnTo>
                  <a:pt x="190438" y="227013"/>
                </a:lnTo>
                <a:lnTo>
                  <a:pt x="248501" y="178881"/>
                </a:lnTo>
                <a:cubicBezTo>
                  <a:pt x="257135" y="171733"/>
                  <a:pt x="269262" y="173806"/>
                  <a:pt x="275616" y="183520"/>
                </a:cubicBezTo>
                <a:cubicBezTo>
                  <a:pt x="281971" y="193233"/>
                  <a:pt x="280128" y="206876"/>
                  <a:pt x="271493" y="214025"/>
                </a:cubicBezTo>
                <a:lnTo>
                  <a:pt x="210084" y="264939"/>
                </a:lnTo>
                <a:cubicBezTo>
                  <a:pt x="198733" y="274325"/>
                  <a:pt x="185054" y="279400"/>
                  <a:pt x="170938" y="279400"/>
                </a:cubicBezTo>
                <a:lnTo>
                  <a:pt x="15522" y="279400"/>
                </a:lnTo>
                <a:cubicBezTo>
                  <a:pt x="6936" y="279400"/>
                  <a:pt x="0" y="271596"/>
                  <a:pt x="0" y="261938"/>
                </a:cubicBezTo>
                <a:lnTo>
                  <a:pt x="0" y="227013"/>
                </a:lnTo>
                <a:cubicBezTo>
                  <a:pt x="0" y="217354"/>
                  <a:pt x="6936" y="209550"/>
                  <a:pt x="15522" y="209550"/>
                </a:cubicBezTo>
                <a:lnTo>
                  <a:pt x="32354" y="209550"/>
                </a:ln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9" name="Text 7"/>
          <p:cNvSpPr/>
          <p:nvPr/>
        </p:nvSpPr>
        <p:spPr>
          <a:xfrm>
            <a:off x="1270000" y="16510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Donor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9000" y="20574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Create food listings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Manage donation history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Receive claim notifications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000" y="3200400"/>
            <a:ext cx="431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000" y="3200400"/>
            <a:ext cx="63500" cy="152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000" y="3352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135334"/>
                </a:moveTo>
                <a:cubicBezTo>
                  <a:pt x="181005" y="135334"/>
                  <a:pt x="214539" y="105992"/>
                  <a:pt x="214539" y="69850"/>
                </a:cubicBezTo>
                <a:cubicBezTo>
                  <a:pt x="214539" y="33708"/>
                  <a:pt x="181005" y="4366"/>
                  <a:pt x="139700" y="4366"/>
                </a:cubicBezTo>
                <a:cubicBezTo>
                  <a:pt x="98395" y="4366"/>
                  <a:pt x="64861" y="33708"/>
                  <a:pt x="64861" y="69850"/>
                </a:cubicBezTo>
                <a:cubicBezTo>
                  <a:pt x="64861" y="105992"/>
                  <a:pt x="98395" y="135334"/>
                  <a:pt x="139700" y="135334"/>
                </a:cubicBezTo>
                <a:close/>
                <a:moveTo>
                  <a:pt x="121177" y="165894"/>
                </a:moveTo>
                <a:cubicBezTo>
                  <a:pt x="59747" y="165894"/>
                  <a:pt x="9979" y="209441"/>
                  <a:pt x="9979" y="263193"/>
                </a:cubicBezTo>
                <a:cubicBezTo>
                  <a:pt x="9979" y="272142"/>
                  <a:pt x="18273" y="279400"/>
                  <a:pt x="28501" y="279400"/>
                </a:cubicBezTo>
                <a:lnTo>
                  <a:pt x="250899" y="279400"/>
                </a:lnTo>
                <a:cubicBezTo>
                  <a:pt x="261127" y="279400"/>
                  <a:pt x="269421" y="272142"/>
                  <a:pt x="269421" y="263193"/>
                </a:cubicBezTo>
                <a:cubicBezTo>
                  <a:pt x="269421" y="209441"/>
                  <a:pt x="219653" y="165894"/>
                  <a:pt x="158223" y="165894"/>
                </a:cubicBezTo>
                <a:lnTo>
                  <a:pt x="121177" y="165894"/>
                </a:ln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33274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Recipient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9000" y="37338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Browse active listings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Submit claims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Track claim status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000" y="4876800"/>
            <a:ext cx="431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000" y="4876800"/>
            <a:ext cx="63500" cy="152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8" name="Shape 16"/>
          <p:cNvSpPr/>
          <p:nvPr/>
        </p:nvSpPr>
        <p:spPr>
          <a:xfrm>
            <a:off x="889000" y="5029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8656" y="135334"/>
                </a:moveTo>
                <a:cubicBezTo>
                  <a:pt x="140782" y="135334"/>
                  <a:pt x="166864" y="105992"/>
                  <a:pt x="166864" y="69850"/>
                </a:cubicBezTo>
                <a:cubicBezTo>
                  <a:pt x="166864" y="33708"/>
                  <a:pt x="140782" y="4366"/>
                  <a:pt x="108656" y="4366"/>
                </a:cubicBezTo>
                <a:cubicBezTo>
                  <a:pt x="76530" y="4366"/>
                  <a:pt x="50447" y="33708"/>
                  <a:pt x="50447" y="69850"/>
                </a:cubicBezTo>
                <a:cubicBezTo>
                  <a:pt x="50447" y="105992"/>
                  <a:pt x="76530" y="135334"/>
                  <a:pt x="108656" y="135334"/>
                </a:cubicBezTo>
                <a:close/>
                <a:moveTo>
                  <a:pt x="94249" y="165894"/>
                </a:moveTo>
                <a:cubicBezTo>
                  <a:pt x="46470" y="165894"/>
                  <a:pt x="7761" y="209441"/>
                  <a:pt x="7761" y="263193"/>
                </a:cubicBezTo>
                <a:cubicBezTo>
                  <a:pt x="7761" y="272142"/>
                  <a:pt x="14213" y="279400"/>
                  <a:pt x="22168" y="279400"/>
                </a:cubicBezTo>
                <a:lnTo>
                  <a:pt x="144163" y="279400"/>
                </a:lnTo>
                <a:cubicBezTo>
                  <a:pt x="126603" y="256153"/>
                  <a:pt x="116417" y="226194"/>
                  <a:pt x="116417" y="194489"/>
                </a:cubicBezTo>
                <a:lnTo>
                  <a:pt x="116417" y="177517"/>
                </a:lnTo>
                <a:cubicBezTo>
                  <a:pt x="116417" y="173534"/>
                  <a:pt x="116902" y="169605"/>
                  <a:pt x="117823" y="165894"/>
                </a:cubicBezTo>
                <a:lnTo>
                  <a:pt x="94249" y="165894"/>
                </a:lnTo>
                <a:close/>
                <a:moveTo>
                  <a:pt x="216001" y="266576"/>
                </a:moveTo>
                <a:lnTo>
                  <a:pt x="209550" y="270014"/>
                </a:lnTo>
                <a:lnTo>
                  <a:pt x="209550" y="167367"/>
                </a:lnTo>
                <a:lnTo>
                  <a:pt x="256117" y="184830"/>
                </a:lnTo>
                <a:lnTo>
                  <a:pt x="256117" y="195525"/>
                </a:lnTo>
                <a:cubicBezTo>
                  <a:pt x="256117" y="225976"/>
                  <a:pt x="240497" y="253643"/>
                  <a:pt x="216001" y="266631"/>
                </a:cubicBezTo>
                <a:close/>
                <a:moveTo>
                  <a:pt x="204651" y="141610"/>
                </a:moveTo>
                <a:lnTo>
                  <a:pt x="150323" y="161965"/>
                </a:lnTo>
                <a:cubicBezTo>
                  <a:pt x="143969" y="164366"/>
                  <a:pt x="139700" y="171023"/>
                  <a:pt x="139700" y="178554"/>
                </a:cubicBezTo>
                <a:lnTo>
                  <a:pt x="139700" y="195525"/>
                </a:lnTo>
                <a:cubicBezTo>
                  <a:pt x="139700" y="236126"/>
                  <a:pt x="160558" y="273070"/>
                  <a:pt x="193155" y="290314"/>
                </a:cubicBezTo>
                <a:lnTo>
                  <a:pt x="202128" y="295062"/>
                </a:lnTo>
                <a:cubicBezTo>
                  <a:pt x="204457" y="296262"/>
                  <a:pt x="206979" y="296917"/>
                  <a:pt x="209501" y="296917"/>
                </a:cubicBezTo>
                <a:cubicBezTo>
                  <a:pt x="212024" y="296917"/>
                  <a:pt x="214595" y="296262"/>
                  <a:pt x="216875" y="295062"/>
                </a:cubicBezTo>
                <a:lnTo>
                  <a:pt x="225848" y="290314"/>
                </a:lnTo>
                <a:cubicBezTo>
                  <a:pt x="258542" y="273015"/>
                  <a:pt x="279400" y="236071"/>
                  <a:pt x="279400" y="195471"/>
                </a:cubicBezTo>
                <a:lnTo>
                  <a:pt x="279400" y="178499"/>
                </a:lnTo>
                <a:cubicBezTo>
                  <a:pt x="279400" y="170969"/>
                  <a:pt x="275131" y="164311"/>
                  <a:pt x="268777" y="161910"/>
                </a:cubicBezTo>
                <a:lnTo>
                  <a:pt x="214449" y="141555"/>
                </a:lnTo>
                <a:cubicBezTo>
                  <a:pt x="211248" y="140355"/>
                  <a:pt x="207804" y="140355"/>
                  <a:pt x="204651" y="141555"/>
                </a:cubicBez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50038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Administrator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9000" y="54102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Moderate reports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Manage user accounts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Review platform analytics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000" y="6553200"/>
            <a:ext cx="431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000" y="6553200"/>
            <a:ext cx="63500" cy="152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3" name="Shape 21"/>
          <p:cNvSpPr/>
          <p:nvPr/>
        </p:nvSpPr>
        <p:spPr>
          <a:xfrm>
            <a:off x="889000" y="6705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06467" y="5184"/>
                </a:moveTo>
                <a:cubicBezTo>
                  <a:pt x="108104" y="-2892"/>
                  <a:pt x="115253" y="-8731"/>
                  <a:pt x="123547" y="-8731"/>
                </a:cubicBezTo>
                <a:lnTo>
                  <a:pt x="156180" y="-8731"/>
                </a:lnTo>
                <a:cubicBezTo>
                  <a:pt x="164475" y="-8731"/>
                  <a:pt x="171624" y="-2892"/>
                  <a:pt x="173261" y="5184"/>
                </a:cubicBezTo>
                <a:lnTo>
                  <a:pt x="181173" y="43383"/>
                </a:lnTo>
                <a:cubicBezTo>
                  <a:pt x="188868" y="46658"/>
                  <a:pt x="196071" y="50860"/>
                  <a:pt x="202620" y="55825"/>
                </a:cubicBezTo>
                <a:lnTo>
                  <a:pt x="239618" y="43547"/>
                </a:lnTo>
                <a:cubicBezTo>
                  <a:pt x="247476" y="40928"/>
                  <a:pt x="256098" y="44202"/>
                  <a:pt x="260246" y="51405"/>
                </a:cubicBezTo>
                <a:lnTo>
                  <a:pt x="276562" y="79673"/>
                </a:lnTo>
                <a:cubicBezTo>
                  <a:pt x="280710" y="86876"/>
                  <a:pt x="279236" y="95935"/>
                  <a:pt x="273015" y="101446"/>
                </a:cubicBezTo>
                <a:lnTo>
                  <a:pt x="243929" y="127313"/>
                </a:lnTo>
                <a:cubicBezTo>
                  <a:pt x="244420" y="131351"/>
                  <a:pt x="244639" y="135498"/>
                  <a:pt x="244639" y="139700"/>
                </a:cubicBezTo>
                <a:cubicBezTo>
                  <a:pt x="244639" y="143902"/>
                  <a:pt x="244366" y="148049"/>
                  <a:pt x="243929" y="152087"/>
                </a:cubicBezTo>
                <a:lnTo>
                  <a:pt x="273070" y="178008"/>
                </a:lnTo>
                <a:cubicBezTo>
                  <a:pt x="279291" y="183520"/>
                  <a:pt x="280710" y="192633"/>
                  <a:pt x="276617" y="199782"/>
                </a:cubicBezTo>
                <a:lnTo>
                  <a:pt x="260300" y="228049"/>
                </a:lnTo>
                <a:cubicBezTo>
                  <a:pt x="256153" y="235198"/>
                  <a:pt x="247531" y="238527"/>
                  <a:pt x="239673" y="235907"/>
                </a:cubicBezTo>
                <a:lnTo>
                  <a:pt x="202674" y="223629"/>
                </a:lnTo>
                <a:cubicBezTo>
                  <a:pt x="196071" y="228595"/>
                  <a:pt x="188868" y="232742"/>
                  <a:pt x="181228" y="236071"/>
                </a:cubicBezTo>
                <a:lnTo>
                  <a:pt x="173370" y="274216"/>
                </a:lnTo>
                <a:cubicBezTo>
                  <a:pt x="171678" y="282347"/>
                  <a:pt x="164529" y="288131"/>
                  <a:pt x="156289" y="288131"/>
                </a:cubicBezTo>
                <a:lnTo>
                  <a:pt x="123656" y="288131"/>
                </a:lnTo>
                <a:cubicBezTo>
                  <a:pt x="115362" y="288131"/>
                  <a:pt x="108213" y="282292"/>
                  <a:pt x="106576" y="274216"/>
                </a:cubicBezTo>
                <a:lnTo>
                  <a:pt x="98718" y="236071"/>
                </a:lnTo>
                <a:cubicBezTo>
                  <a:pt x="91023" y="232797"/>
                  <a:pt x="83875" y="228595"/>
                  <a:pt x="77272" y="223629"/>
                </a:cubicBezTo>
                <a:lnTo>
                  <a:pt x="40109" y="235907"/>
                </a:lnTo>
                <a:cubicBezTo>
                  <a:pt x="32251" y="238527"/>
                  <a:pt x="23629" y="235253"/>
                  <a:pt x="19482" y="228049"/>
                </a:cubicBezTo>
                <a:lnTo>
                  <a:pt x="3165" y="199782"/>
                </a:lnTo>
                <a:cubicBezTo>
                  <a:pt x="-982" y="192579"/>
                  <a:pt x="491" y="183520"/>
                  <a:pt x="6712" y="178008"/>
                </a:cubicBezTo>
                <a:lnTo>
                  <a:pt x="35853" y="152087"/>
                </a:lnTo>
                <a:cubicBezTo>
                  <a:pt x="35362" y="148049"/>
                  <a:pt x="35143" y="143902"/>
                  <a:pt x="35143" y="139700"/>
                </a:cubicBezTo>
                <a:cubicBezTo>
                  <a:pt x="35143" y="135498"/>
                  <a:pt x="35416" y="131351"/>
                  <a:pt x="35853" y="127313"/>
                </a:cubicBezTo>
                <a:lnTo>
                  <a:pt x="6712" y="101392"/>
                </a:lnTo>
                <a:cubicBezTo>
                  <a:pt x="491" y="95880"/>
                  <a:pt x="-928" y="86767"/>
                  <a:pt x="3165" y="79618"/>
                </a:cubicBezTo>
                <a:lnTo>
                  <a:pt x="19482" y="51351"/>
                </a:lnTo>
                <a:cubicBezTo>
                  <a:pt x="23629" y="44147"/>
                  <a:pt x="32251" y="40873"/>
                  <a:pt x="40109" y="43493"/>
                </a:cubicBezTo>
                <a:lnTo>
                  <a:pt x="77108" y="55771"/>
                </a:lnTo>
                <a:cubicBezTo>
                  <a:pt x="83711" y="50805"/>
                  <a:pt x="90914" y="46658"/>
                  <a:pt x="98554" y="43329"/>
                </a:cubicBezTo>
                <a:lnTo>
                  <a:pt x="106467" y="5184"/>
                </a:lnTo>
                <a:close/>
                <a:moveTo>
                  <a:pt x="139864" y="183356"/>
                </a:moveTo>
                <a:cubicBezTo>
                  <a:pt x="155461" y="183298"/>
                  <a:pt x="169841" y="174923"/>
                  <a:pt x="177589" y="161386"/>
                </a:cubicBezTo>
                <a:cubicBezTo>
                  <a:pt x="185337" y="147850"/>
                  <a:pt x="185275" y="131208"/>
                  <a:pt x="177426" y="117730"/>
                </a:cubicBezTo>
                <a:cubicBezTo>
                  <a:pt x="169576" y="104252"/>
                  <a:pt x="155133" y="95985"/>
                  <a:pt x="139536" y="96044"/>
                </a:cubicBezTo>
                <a:cubicBezTo>
                  <a:pt x="123939" y="96102"/>
                  <a:pt x="109559" y="104477"/>
                  <a:pt x="101811" y="118014"/>
                </a:cubicBezTo>
                <a:cubicBezTo>
                  <a:pt x="94063" y="131550"/>
                  <a:pt x="94125" y="148192"/>
                  <a:pt x="101974" y="161670"/>
                </a:cubicBezTo>
                <a:cubicBezTo>
                  <a:pt x="109824" y="175148"/>
                  <a:pt x="124267" y="183415"/>
                  <a:pt x="139864" y="183356"/>
                </a:cubicBezTo>
                <a:close/>
              </a:path>
            </a:pathLst>
          </a:custGeom>
          <a:solidFill>
            <a:srgbClr val="0D8B7D"/>
          </a:solidFill>
          <a:ln/>
        </p:spPr>
      </p:sp>
      <p:sp>
        <p:nvSpPr>
          <p:cNvPr id="24" name="Text 22"/>
          <p:cNvSpPr/>
          <p:nvPr/>
        </p:nvSpPr>
        <p:spPr>
          <a:xfrm>
            <a:off x="1270000" y="66802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9000" y="70866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Send notifications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Handle listing expiry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Automated status updates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61000" y="107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Case to Requirement Traceability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1000" y="1524000"/>
          <a:ext cx="10160000" cy="6553200"/>
        </p:xfrm>
        <a:graphic>
          <a:graphicData uri="http://schemas.openxmlformats.org/drawingml/2006/table">
            <a:tbl>
              <a:tblPr/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4256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Primary Actor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CW1 Ref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UC-01 Create 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Donor posts surplus food with details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Donor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FR-001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UC-02 Browse Listings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Recipient views available donations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Recipient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FR-002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UC-03 Submit Claim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Recipient reserves a food 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Recipient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FR-003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UC-04 Manage Claim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Donor accepts/rejects claim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Donor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FR-004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UC-05 Report 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 flags inappropriate content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Any User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FR-005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UC-06 Moderate Report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Admin reviews and takes action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Administrator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FR-006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UC-07 Send Notification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System alerts on status changes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System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FR-007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361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UC-08 Handle Expiry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Auto-expire past listings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System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FR-008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9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2210143" y="8559801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1E108-BD60-A4E9-6028-680E5ABA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A18D09C-8FE0-72C6-8F58-F79FD8BB6321}"/>
              </a:ext>
            </a:extLst>
          </p:cNvPr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DBF9FB-C801-1B8C-FC8B-3B0009E6640B}"/>
              </a:ext>
            </a:extLst>
          </p:cNvPr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5F89FA-86FF-17C2-07B2-30791DC86F07}"/>
              </a:ext>
            </a:extLst>
          </p:cNvPr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ase diagram</a:t>
            </a:r>
            <a:endParaRPr lang="en-US" sz="20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2D3C7A4-E575-CAFA-D10A-5D09A651E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410" y="1031910"/>
            <a:ext cx="7255180" cy="7413590"/>
          </a:xfrm>
          <a:prstGeom prst="rect">
            <a:avLst/>
          </a:prstGeom>
        </p:spPr>
      </p:pic>
      <p:sp>
        <p:nvSpPr>
          <p:cNvPr id="5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2340772" y="8559284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642109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 models four domain entities with full attributes and relationships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723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079500"/>
            <a:ext cx="7239000" cy="457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825500" y="1117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5500" y="16256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userId: UUID (PK)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email: String (unique)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passwordHash: String (bcrypt)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role: Enum [DONOR, RECIPIENT, ADMIN]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5500" y="31496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authenticate(email, password): Session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updateProfile(data): User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validatePassword(password): Boolean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82000" y="1079500"/>
            <a:ext cx="723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82000" y="1079500"/>
            <a:ext cx="7239000" cy="457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2" name="Text 10"/>
          <p:cNvSpPr/>
          <p:nvPr/>
        </p:nvSpPr>
        <p:spPr>
          <a:xfrm>
            <a:off x="8572500" y="1117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FoodListing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0" y="16256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listingId: UUID (PK)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donorId: UUID (FK → User)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quantityKg: Double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status: Enum [ACTIVE, CLAIMED, EXPIRED]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72500" y="31496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create(donorId, data): FoodListing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validate(): ValidationResult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expire(): void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000" y="4762500"/>
            <a:ext cx="723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000" y="4762500"/>
            <a:ext cx="7239000" cy="457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7" name="Text 15"/>
          <p:cNvSpPr/>
          <p:nvPr/>
        </p:nvSpPr>
        <p:spPr>
          <a:xfrm>
            <a:off x="825500" y="4800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Claim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500" y="53086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claimId: UUID (PK)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listingId: UUID (FK → FoodListing)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recipientId: UUID (FK → User)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status: Enum [PENDING, COMPLETED, CANCELLED]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5500" y="68326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submit(recipientId, listingId): Claim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complete(): void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cancel(): void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82000" y="4762500"/>
            <a:ext cx="72390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2000" y="4762500"/>
            <a:ext cx="7239000" cy="457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0" y="4800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ModerationReport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2500" y="5308600"/>
            <a:ext cx="6858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Attributes: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reportId: UUID (PK)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reporterId: UUID (FK → User)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targetListingId: UUID (FK → FoodListing)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reason: String (max 500 chars)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72500" y="68326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Methods: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submit(reporterId, listingId, reason): Report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resolve(action): void</a:t>
            </a:r>
            <a:endParaRPr lang="en-US" sz="13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validate(): ValidationResult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6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3257893" y="8497598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diagram</a:t>
            </a:r>
            <a:endParaRPr lang="en-US" sz="2000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76DC021-208D-0B86-2B66-8AD16A97C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646" y="825500"/>
            <a:ext cx="7290707" cy="8095501"/>
          </a:xfrm>
          <a:prstGeom prst="rect">
            <a:avLst/>
          </a:prstGeom>
        </p:spPr>
      </p:pic>
      <p:sp>
        <p:nvSpPr>
          <p:cNvPr id="5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2446908" y="8806934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Architecture Design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5080000"/>
            <a:ext cx="2540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architecture selection, system component design, and unit testing strategy</a:t>
            </a:r>
            <a:endParaRPr lang="en-US" sz="1600" dirty="0"/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3475607" y="8600106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Layered N-Tier architecture with MVC pattern selected for maintainability and testability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469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000" y="1079500"/>
            <a:ext cx="469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2700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3-Layer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89000" y="1841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Clear separation of concerns with Presentation, Business Logic, and Data Access layers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78500" y="1079500"/>
            <a:ext cx="469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8500" y="1079500"/>
            <a:ext cx="469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1" name="Text 9"/>
          <p:cNvSpPr/>
          <p:nvPr/>
        </p:nvSpPr>
        <p:spPr>
          <a:xfrm>
            <a:off x="6032500" y="12700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&lt;2s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032500" y="1841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page load time for 300 concurrent users per NFR-001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22000" y="1079500"/>
            <a:ext cx="4699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22000" y="1079500"/>
            <a:ext cx="4699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5" name="Text 13"/>
          <p:cNvSpPr/>
          <p:nvPr/>
        </p:nvSpPr>
        <p:spPr>
          <a:xfrm>
            <a:off x="11176000" y="12700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MVC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1176000" y="1841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Model-View-Controller pattern in Presentation Layer for UI separation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000" y="311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 Structure &amp; Responsibilities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000" y="3556000"/>
            <a:ext cx="4699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9000" y="3746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20" name="Text 18"/>
          <p:cNvSpPr/>
          <p:nvPr/>
        </p:nvSpPr>
        <p:spPr>
          <a:xfrm>
            <a:off x="889000" y="374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22400" y="3746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9000" y="4318000"/>
            <a:ext cx="419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Responsibilities: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User interface rendering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Input validation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Request routing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Pattern: MVC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Controllers handle HTTP requests, delegate to business services, and render views. Views are decoupled from business logic.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778500" y="3556000"/>
            <a:ext cx="4699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2500" y="3746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25" name="Text 23"/>
          <p:cNvSpPr/>
          <p:nvPr/>
        </p:nvSpPr>
        <p:spPr>
          <a:xfrm>
            <a:off x="6032500" y="374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65900" y="3746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2500" y="4318000"/>
            <a:ext cx="419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Responsibilities: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Domain rules enforcement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Workflow orchestration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Core system functionality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Services: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ListingService, ClaimService, UserService, NotificationService, and ModerationService.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922000" y="3556000"/>
            <a:ext cx="4699000" cy="444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76000" y="3746500"/>
            <a:ext cx="406400" cy="4064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30" name="Text 28"/>
          <p:cNvSpPr/>
          <p:nvPr/>
        </p:nvSpPr>
        <p:spPr>
          <a:xfrm>
            <a:off x="11176000" y="3746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709400" y="3746500"/>
            <a:ext cx="3683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Access Layer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176000" y="4318000"/>
            <a:ext cx="4191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Responsibilities: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Database abstraction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Repository interfaces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External API wrappers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Pattern: Repository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layer has zero knowledge of underlying database technology. All data access via well-defined interfaces.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4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2672786" y="8451334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10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defines clear layer communication via REST APIs and repository interfaces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143000"/>
            <a:ext cx="4699000" cy="2540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1270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9000" y="16764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View Components (UI)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Controllers (Request Handling)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Input Validation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Session Management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 API over HTTPS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57500" y="3746500"/>
            <a:ext cx="0" cy="38100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635000" y="4191000"/>
            <a:ext cx="4699000" cy="2540000"/>
          </a:xfrm>
          <a:prstGeom prst="rect">
            <a:avLst/>
          </a:prstGeom>
          <a:solidFill>
            <a:srgbClr val="0D8B7D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4318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Logic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" y="4724400"/>
            <a:ext cx="4191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Domain Services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Business Rules Engine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Workflow Management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DTO Mapping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i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Repository Interfaces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57500" y="6794500"/>
            <a:ext cx="0" cy="38100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35000" y="7239000"/>
            <a:ext cx="4699000" cy="889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736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Access Layer</a:t>
            </a:r>
            <a:endParaRPr lang="en-US" sz="1400" dirty="0"/>
          </a:p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Repositories | Database | External APIs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69000" y="114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 Communication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1587500"/>
            <a:ext cx="965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9000" y="1587500"/>
            <a:ext cx="63500" cy="203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8" name="Text 16"/>
          <p:cNvSpPr/>
          <p:nvPr/>
        </p:nvSpPr>
        <p:spPr>
          <a:xfrm>
            <a:off x="6223000" y="1676400"/>
            <a:ext cx="914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Presentation ↔ Business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23000" y="2032000"/>
            <a:ext cx="914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Protocol: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REST API over HTTPS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Controllers validate input and delegate business operations to services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format: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JSON request/response bodies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Authentication tokens, input sanitization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69000" y="3810000"/>
            <a:ext cx="965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9000" y="3810000"/>
            <a:ext cx="63500" cy="203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22" name="Text 20"/>
          <p:cNvSpPr/>
          <p:nvPr/>
        </p:nvSpPr>
        <p:spPr>
          <a:xfrm>
            <a:off x="6223000" y="3898900"/>
            <a:ext cx="914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Business ↔ Data Layer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23000" y="4254500"/>
            <a:ext cx="914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Repository interfaces (Dependency Inversion)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principle: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Business layer has no knowledge of underlying database technology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Benefit: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Easy to swap database implementations for testing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Transaction: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Unit of Work pattern for atomic operations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69000" y="6032500"/>
            <a:ext cx="9652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69000" y="6032500"/>
            <a:ext cx="63500" cy="2032000"/>
          </a:xfrm>
          <a:prstGeom prst="rect">
            <a:avLst/>
          </a:prstGeom>
          <a:solidFill>
            <a:srgbClr val="E8B44A"/>
          </a:solidFill>
          <a:ln/>
        </p:spPr>
      </p:sp>
      <p:sp>
        <p:nvSpPr>
          <p:cNvPr id="26" name="Text 24"/>
          <p:cNvSpPr/>
          <p:nvPr/>
        </p:nvSpPr>
        <p:spPr>
          <a:xfrm>
            <a:off x="6223000" y="6121400"/>
            <a:ext cx="914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E8B4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External Services Integration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23000" y="6477000"/>
            <a:ext cx="914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Approach: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Official APIs only, with wrapper classes in data layer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Purpose: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Isolate third-party dependencies from business logic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Services: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Email/SMS notifications, campus SSO (future)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</a:t>
            </a: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Resilience: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Circuit breaker pattern for external failures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9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3018407" y="8536481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11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test suite covers 4 domain classes with 12 test cases across all scenarios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355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9000" y="11684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89000" y="17780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Test Cases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5000" y="1079500"/>
            <a:ext cx="355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9000" y="11684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99000" y="17780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Domain Classes Tested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55000" y="1079500"/>
            <a:ext cx="355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9000" y="11684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509000" y="17780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 Types per Class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065000" y="1079500"/>
            <a:ext cx="3556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19000" y="1168400"/>
            <a:ext cx="304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≥85%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2319000" y="17780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 Code Coverage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000" y="2476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 Test Case Summary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" y="2857500"/>
          <a:ext cx="14986000" cy="527050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583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Class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Type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Scenario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Expected Result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Valid credentials login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Auth succeeds, session returned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Edge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Max-length password (72 chars)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Hash verified correctly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Unregistered email login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Generic error, no info disclosed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FoodListing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 valid active 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ACTIVE status, appears in browse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FoodListing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Edge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 listing with zero quantity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Rejected: "quantity &gt; 0" 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FoodListing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Create with past end time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Fails: "end time must be future"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Claim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Submit claim for active 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PENDING status, listing CLAIMED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Claim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Edge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Claim exactly at expiry time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Rejected, listing marked EXPIRED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Claim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Claim already reserved 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Fails: "already reserved" 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ModerationReport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Normal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Submit valid report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PENDING status, added to queue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09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ModerationReport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Edge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Report with max-length reason (500)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Submitted, full text stored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582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ModerationReport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Report non-existent listing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Fails: "listing not found" error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Pass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0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2773478" y="8578334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12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10160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16000" y="4191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0D8B7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Justification &amp; Quality Assurance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16000" y="5080000"/>
            <a:ext cx="2540000" cy="0"/>
          </a:xfrm>
          <a:prstGeom prst="straightConnector1">
            <a:avLst/>
          </a:prstGeom>
          <a:noFill/>
          <a:ln w="25400">
            <a:solidFill>
              <a:srgbClr val="E8B44A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1016000" y="5334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9999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trade-off analysis, requirements traceability, testing strategy, and future roadmap</a:t>
            </a:r>
            <a:endParaRPr lang="en-US" sz="1600" dirty="0"/>
          </a:p>
        </p:txBody>
      </p:sp>
      <p:sp>
        <p:nvSpPr>
          <p:cNvPr id="7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3042900" y="8485806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13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key design trade-offs balance simplicity, ethics, and operational feasibility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35000" y="1079500"/>
            <a:ext cx="723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9000" y="1270000"/>
            <a:ext cx="457200" cy="4572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270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1270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Layered Monolith over Microservices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9000" y="18415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Single monolithic application with 3-layer architecture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Rationale: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Microservices introduce unnecessary operational complexity for a single-campus prototype with a small development team.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Simplified deployment, easier testing, lower infrastructure overhead.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5000" y="3556000"/>
            <a:ext cx="7239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9000" y="3746500"/>
            <a:ext cx="457200" cy="4572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3746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" y="37465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Manual Logging over AI Recognition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" y="4318000"/>
            <a:ext cx="673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Donors manually input food item details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Rationale: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AI image recognition for food items is explicitly out of scope per CW1 boundaries. Manual input prioritises simplicity and reliability.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Achievable scope, no ML model training required, consistent data quality.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000" y="6032500"/>
            <a:ext cx="72390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9000" y="6223000"/>
            <a:ext cx="457200" cy="4572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" y="622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" y="6223000"/>
            <a:ext cx="609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Data over Rich Profiling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" y="67945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Decision: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Limited personal data collection to protect recipient privacy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Rationale:</a:t>
            </a: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Prioritises ethical requirements and GDPR compliance over administrative convenience of richer user data.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2000" y="107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CW1 Requirements Traceability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524000"/>
          <a:ext cx="7239000" cy="3556000"/>
        </p:xfrm>
        <a:graphic>
          <a:graphicData uri="http://schemas.openxmlformats.org/drawingml/2006/table">
            <a:tbl>
              <a:tblPr/>
              <a:tblGrid>
                <a:gridCol w="253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CW1 Deliverable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CW2 Mapping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Status</a:t>
                      </a:r>
                      <a:endParaRPr lang="en-US" sz="13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8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Functional Requirements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 Case Diagram (UC-01 to UC-08)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Domain Entities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Class Diagram (4 classes)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NFRs (Performance, Security)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Architecture Design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2320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Stakeholder Requirements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rgbClr val="33333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Unit Tests + Architecture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0D8B7D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Complete</a:t>
                      </a:r>
                      <a:endParaRPr lang="en-US" sz="12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382000" y="5334000"/>
            <a:ext cx="7239000" cy="273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82000" y="5334000"/>
            <a:ext cx="7239000" cy="63500"/>
          </a:xfrm>
          <a:prstGeom prst="rect">
            <a:avLst/>
          </a:prstGeom>
          <a:solidFill>
            <a:srgbClr val="E8B44A"/>
          </a:solidFill>
          <a:ln/>
        </p:spPr>
      </p:sp>
      <p:sp>
        <p:nvSpPr>
          <p:cNvPr id="24" name="Text 21"/>
          <p:cNvSpPr/>
          <p:nvPr/>
        </p:nvSpPr>
        <p:spPr>
          <a:xfrm>
            <a:off x="8636000" y="5524500"/>
            <a:ext cx="673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8B4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Design Principle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36000" y="5969000"/>
            <a:ext cx="673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Every use case in the UML diagram maps directly to a functional requirement from CW1, and every class in the class diagram is derived from domain entities described in the stakeholder and requirements sections.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features outside the defined in-scope items have been introduced in the design phase.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7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2985750" y="8572501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14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Three-tier testing strategy ensures comprehensive quality assurance from unit to acceptance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286000"/>
            <a:ext cx="13716000" cy="0"/>
          </a:xfrm>
          <a:prstGeom prst="straightConnector1">
            <a:avLst/>
          </a:prstGeom>
          <a:noFill/>
          <a:ln w="38100">
            <a:solidFill>
              <a:srgbClr val="0D8B7D"/>
            </a:solidFill>
            <a:prstDash val="solid"/>
            <a:headEnd type="none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2032000" y="2159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7" name="Shape 5"/>
          <p:cNvSpPr/>
          <p:nvPr/>
        </p:nvSpPr>
        <p:spPr>
          <a:xfrm>
            <a:off x="1397000" y="1714500"/>
            <a:ext cx="1524000" cy="3556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8" name="Text 6"/>
          <p:cNvSpPr/>
          <p:nvPr/>
        </p:nvSpPr>
        <p:spPr>
          <a:xfrm>
            <a:off x="1397000" y="1714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Tier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2000" y="2667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 Testing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8500" y="3111500"/>
            <a:ext cx="292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Scope: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All domain class methods tested with three scenario types: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Normal cases (expected behavior)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Edge cases (boundary values)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Error cases (exceptions)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Target: ≥85% coverage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3000" y="2159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2" name="Shape 10"/>
          <p:cNvSpPr/>
          <p:nvPr/>
        </p:nvSpPr>
        <p:spPr>
          <a:xfrm>
            <a:off x="5588000" y="1714500"/>
            <a:ext cx="1524000" cy="3556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3" name="Text 11"/>
          <p:cNvSpPr/>
          <p:nvPr/>
        </p:nvSpPr>
        <p:spPr>
          <a:xfrm>
            <a:off x="5588000" y="1714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Tier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3000" y="2667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Testing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31115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Scope: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Validates interactions between architectural layers: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API Controller → Business Service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Business Service → Repository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Data persistence round-trips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Focus: Layer contracts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541000" y="2159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17" name="Shape 15"/>
          <p:cNvSpPr/>
          <p:nvPr/>
        </p:nvSpPr>
        <p:spPr>
          <a:xfrm>
            <a:off x="9906000" y="1714500"/>
            <a:ext cx="1524000" cy="3556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0" y="17145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Tier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71000" y="26670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Acceptance Testing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90000" y="3111500"/>
            <a:ext cx="355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Scope: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End-to-end verification against CW1 acceptance criteria: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Each functional requirement tested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User journey validation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Cross-browser compatibility</a:t>
            </a:r>
            <a:endParaRPr lang="en-US" sz="1300" dirty="0"/>
          </a:p>
          <a:p>
            <a:pPr algn="l">
              <a:lnSpc>
                <a:spcPct val="150000"/>
              </a:lnSpc>
              <a:spcBef>
                <a:spcPts val="800"/>
              </a:spcBef>
            </a:pPr>
            <a:r>
              <a:rPr lang="en-US" sz="13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Focus: Requirement compliance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000" y="59690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635000" y="615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Testing Metrics &amp; Coverage Targets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000" y="6604000"/>
            <a:ext cx="3556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9000" y="67056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≥85%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89000" y="7239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coverage target for core business logic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445000" y="6604000"/>
            <a:ext cx="3556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9000" y="67056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699000" y="7239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 test cases covering all domain classes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55000" y="6604000"/>
            <a:ext cx="3556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9000" y="67056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509000" y="7239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Scenario types: Normal, Edge, Error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2065000" y="6604000"/>
            <a:ext cx="3556000" cy="1460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319000" y="67056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12319000" y="72390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CW1 functional requirement coverage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36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3157200" y="8675273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15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00"/>
            <a:ext cx="16256000" cy="762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1524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Monolithic design supports migration path to microservices for multi-campus expansion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5000" y="107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000" y="1524000"/>
            <a:ext cx="723900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5000" y="1524000"/>
            <a:ext cx="63500" cy="18415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1714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2333" y="0"/>
                </a:moveTo>
                <a:cubicBezTo>
                  <a:pt x="18984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8984" y="254000"/>
                  <a:pt x="42333" y="254000"/>
                </a:cubicBezTo>
                <a:lnTo>
                  <a:pt x="211667" y="254000"/>
                </a:lnTo>
                <a:cubicBezTo>
                  <a:pt x="235016" y="254000"/>
                  <a:pt x="254000" y="239762"/>
                  <a:pt x="254000" y="222250"/>
                </a:cubicBezTo>
                <a:lnTo>
                  <a:pt x="254000" y="31750"/>
                </a:lnTo>
                <a:cubicBezTo>
                  <a:pt x="254000" y="14238"/>
                  <a:pt x="235016" y="0"/>
                  <a:pt x="211667" y="0"/>
                </a:cubicBezTo>
                <a:lnTo>
                  <a:pt x="42333" y="0"/>
                </a:lnTo>
                <a:close/>
                <a:moveTo>
                  <a:pt x="116417" y="174625"/>
                </a:moveTo>
                <a:lnTo>
                  <a:pt x="137583" y="174625"/>
                </a:lnTo>
                <a:cubicBezTo>
                  <a:pt x="149291" y="174625"/>
                  <a:pt x="158750" y="181719"/>
                  <a:pt x="158750" y="190500"/>
                </a:cubicBezTo>
                <a:lnTo>
                  <a:pt x="158750" y="230188"/>
                </a:lnTo>
                <a:lnTo>
                  <a:pt x="95250" y="230188"/>
                </a:lnTo>
                <a:lnTo>
                  <a:pt x="95250" y="190500"/>
                </a:lnTo>
                <a:cubicBezTo>
                  <a:pt x="95250" y="181719"/>
                  <a:pt x="104709" y="174625"/>
                  <a:pt x="116417" y="174625"/>
                </a:cubicBezTo>
                <a:close/>
                <a:moveTo>
                  <a:pt x="63500" y="55563"/>
                </a:moveTo>
                <a:cubicBezTo>
                  <a:pt x="63500" y="51197"/>
                  <a:pt x="68263" y="47625"/>
                  <a:pt x="74083" y="47625"/>
                </a:cubicBezTo>
                <a:lnTo>
                  <a:pt x="95250" y="47625"/>
                </a:lnTo>
                <a:cubicBezTo>
                  <a:pt x="101071" y="47625"/>
                  <a:pt x="105833" y="51197"/>
                  <a:pt x="105833" y="55563"/>
                </a:cubicBezTo>
                <a:lnTo>
                  <a:pt x="105833" y="71438"/>
                </a:lnTo>
                <a:cubicBezTo>
                  <a:pt x="105833" y="75803"/>
                  <a:pt x="101071" y="79375"/>
                  <a:pt x="95250" y="79375"/>
                </a:cubicBezTo>
                <a:lnTo>
                  <a:pt x="74083" y="79375"/>
                </a:lnTo>
                <a:cubicBezTo>
                  <a:pt x="68263" y="79375"/>
                  <a:pt x="63500" y="75803"/>
                  <a:pt x="63500" y="71438"/>
                </a:cubicBezTo>
                <a:lnTo>
                  <a:pt x="63500" y="55563"/>
                </a:lnTo>
                <a:close/>
                <a:moveTo>
                  <a:pt x="158750" y="47625"/>
                </a:moveTo>
                <a:lnTo>
                  <a:pt x="179917" y="47625"/>
                </a:lnTo>
                <a:cubicBezTo>
                  <a:pt x="185738" y="47625"/>
                  <a:pt x="190500" y="51197"/>
                  <a:pt x="190500" y="55563"/>
                </a:cubicBezTo>
                <a:lnTo>
                  <a:pt x="190500" y="71438"/>
                </a:lnTo>
                <a:cubicBezTo>
                  <a:pt x="190500" y="75803"/>
                  <a:pt x="185738" y="79375"/>
                  <a:pt x="179917" y="79375"/>
                </a:cubicBezTo>
                <a:lnTo>
                  <a:pt x="158750" y="79375"/>
                </a:lnTo>
                <a:cubicBezTo>
                  <a:pt x="152929" y="79375"/>
                  <a:pt x="148167" y="75803"/>
                  <a:pt x="148167" y="71438"/>
                </a:cubicBezTo>
                <a:lnTo>
                  <a:pt x="148167" y="55563"/>
                </a:lnTo>
                <a:cubicBezTo>
                  <a:pt x="148167" y="51197"/>
                  <a:pt x="152929" y="47625"/>
                  <a:pt x="158750" y="47625"/>
                </a:cubicBezTo>
                <a:close/>
                <a:moveTo>
                  <a:pt x="63500" y="119063"/>
                </a:moveTo>
                <a:cubicBezTo>
                  <a:pt x="63500" y="114697"/>
                  <a:pt x="68263" y="111125"/>
                  <a:pt x="74083" y="111125"/>
                </a:cubicBezTo>
                <a:lnTo>
                  <a:pt x="95250" y="111125"/>
                </a:lnTo>
                <a:cubicBezTo>
                  <a:pt x="101071" y="111125"/>
                  <a:pt x="105833" y="114697"/>
                  <a:pt x="105833" y="119063"/>
                </a:cubicBezTo>
                <a:lnTo>
                  <a:pt x="105833" y="134938"/>
                </a:lnTo>
                <a:cubicBezTo>
                  <a:pt x="105833" y="139303"/>
                  <a:pt x="101071" y="142875"/>
                  <a:pt x="95250" y="142875"/>
                </a:cubicBezTo>
                <a:lnTo>
                  <a:pt x="74083" y="142875"/>
                </a:lnTo>
                <a:cubicBezTo>
                  <a:pt x="68263" y="142875"/>
                  <a:pt x="63500" y="139303"/>
                  <a:pt x="63500" y="134938"/>
                </a:cubicBezTo>
                <a:lnTo>
                  <a:pt x="63500" y="119063"/>
                </a:lnTo>
                <a:close/>
                <a:moveTo>
                  <a:pt x="158750" y="111125"/>
                </a:moveTo>
                <a:lnTo>
                  <a:pt x="179917" y="111125"/>
                </a:lnTo>
                <a:cubicBezTo>
                  <a:pt x="185738" y="111125"/>
                  <a:pt x="190500" y="114697"/>
                  <a:pt x="190500" y="119063"/>
                </a:cubicBezTo>
                <a:lnTo>
                  <a:pt x="190500" y="134938"/>
                </a:lnTo>
                <a:cubicBezTo>
                  <a:pt x="190500" y="139303"/>
                  <a:pt x="185738" y="142875"/>
                  <a:pt x="179917" y="142875"/>
                </a:cubicBezTo>
                <a:lnTo>
                  <a:pt x="158750" y="142875"/>
                </a:lnTo>
                <a:cubicBezTo>
                  <a:pt x="152929" y="142875"/>
                  <a:pt x="148167" y="139303"/>
                  <a:pt x="148167" y="134938"/>
                </a:cubicBezTo>
                <a:lnTo>
                  <a:pt x="148167" y="119063"/>
                </a:lnTo>
                <a:cubicBezTo>
                  <a:pt x="148167" y="114697"/>
                  <a:pt x="152929" y="111125"/>
                  <a:pt x="158750" y="111125"/>
                </a:cubicBezTo>
                <a:close/>
              </a:path>
            </a:pathLst>
          </a:custGeom>
          <a:solidFill>
            <a:srgbClr val="999999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764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Single-Campus Constraint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" y="2095500"/>
            <a:ext cx="6667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monolithic architecture is designed for a single campus deployment. Scaling to multiple campuses would require significant architectural changes including service decomposition.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000" y="3530600"/>
            <a:ext cx="723900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000" y="3530600"/>
            <a:ext cx="63500" cy="18415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3" name="Shape 11"/>
          <p:cNvSpPr/>
          <p:nvPr/>
        </p:nvSpPr>
        <p:spPr>
          <a:xfrm>
            <a:off x="952500" y="3721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999999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36830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Non-Functional Testing Gap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52500" y="4102100"/>
            <a:ext cx="6667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Load testing, security penetration testing, and accessibility auditing are required before production deployment. These are excluded from the prototype scope.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000" y="5537200"/>
            <a:ext cx="7239000" cy="184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000" y="5537200"/>
            <a:ext cx="63500" cy="184150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" y="57277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999999"/>
          </a:solidFill>
          <a:ln/>
        </p:spPr>
      </p:sp>
      <p:sp>
        <p:nvSpPr>
          <p:cNvPr id="19" name="Text 17"/>
          <p:cNvSpPr/>
          <p:nvPr/>
        </p:nvSpPr>
        <p:spPr>
          <a:xfrm>
            <a:off x="1333500" y="56896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Campus SSO Integration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500" y="6108700"/>
            <a:ext cx="6667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Integration with campus single-sign-on (SSO) would improve user onboarding but was excluded from the initial prototype scope to keep the project achievable within semester constraints.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2000" y="107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Improvement Roadmap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636000" y="1905000"/>
            <a:ext cx="0" cy="508000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509000" y="2032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24" name="Shape 22"/>
          <p:cNvSpPr/>
          <p:nvPr/>
        </p:nvSpPr>
        <p:spPr>
          <a:xfrm>
            <a:off x="9017000" y="1778000"/>
            <a:ext cx="6604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7500" y="18796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1: Microservices Migration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07500" y="22606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Decompose monolith into independently deployable services (Listing Service, Claim Service, User Service, Notification Service) to support multi-campus scaling.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509000" y="3683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28" name="Shape 26"/>
          <p:cNvSpPr/>
          <p:nvPr/>
        </p:nvSpPr>
        <p:spPr>
          <a:xfrm>
            <a:off x="9017000" y="3492500"/>
            <a:ext cx="6604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7500" y="35941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2: Non-Functional Testing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07500" y="3975100"/>
            <a:ext cx="622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 comprehensive load testing (300 concurrent users), security penetration testing, WCAG 2.1 accessibility auditing, and performance benchmarking.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9000" y="5334000"/>
            <a:ext cx="254000" cy="254000"/>
          </a:xfrm>
          <a:prstGeom prst="ellipse">
            <a:avLst/>
          </a:prstGeom>
          <a:solidFill>
            <a:srgbClr val="0D8B7D"/>
          </a:solidFill>
          <a:ln/>
        </p:spPr>
      </p:sp>
      <p:sp>
        <p:nvSpPr>
          <p:cNvPr id="32" name="Shape 30"/>
          <p:cNvSpPr/>
          <p:nvPr/>
        </p:nvSpPr>
        <p:spPr>
          <a:xfrm>
            <a:off x="9017000" y="5080000"/>
            <a:ext cx="6604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07500" y="51816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3: Campus SSO Integration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207500" y="55626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Integrate with campus identity provider via OAuth 2.0 / SAML for seamless single-sign-on, improving user onboarding and security posture.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509000" y="6985000"/>
            <a:ext cx="254000" cy="254000"/>
          </a:xfrm>
          <a:prstGeom prst="ellipse">
            <a:avLst/>
          </a:prstGeom>
          <a:solidFill>
            <a:srgbClr val="E8B44A"/>
          </a:solidFill>
          <a:ln/>
        </p:spPr>
      </p:sp>
      <p:sp>
        <p:nvSpPr>
          <p:cNvPr id="36" name="Shape 34"/>
          <p:cNvSpPr/>
          <p:nvPr/>
        </p:nvSpPr>
        <p:spPr>
          <a:xfrm>
            <a:off x="9017000" y="6858000"/>
            <a:ext cx="6604000" cy="120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07500" y="6959600"/>
            <a:ext cx="622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E8B44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Phase 4: AI-Enhanced Features (Optional)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207500" y="73406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Food image recognition for automated listing categorisation and quality assessment.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5000" y="8318500"/>
            <a:ext cx="14986000" cy="0"/>
          </a:xfrm>
          <a:prstGeom prst="straightConnector1">
            <a:avLst/>
          </a:prstGeom>
          <a:noFill/>
          <a:ln w="12700">
            <a:solidFill>
              <a:srgbClr val="DDDDDD"/>
            </a:solidFill>
            <a:prstDash val="solid"/>
            <a:headEnd type="none"/>
            <a:tailEnd type="none"/>
          </a:ln>
        </p:spPr>
      </p:sp>
      <p:sp>
        <p:nvSpPr>
          <p:cNvPr id="40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3257893" y="8539202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16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62000" y="4064000"/>
            <a:ext cx="1778000" cy="0"/>
          </a:xfrm>
          <a:prstGeom prst="straightConnector1">
            <a:avLst/>
          </a:prstGeom>
          <a:noFill/>
          <a:ln w="25400">
            <a:solidFill>
              <a:srgbClr val="FFFFFF">
                <a:alpha val="50196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4318000"/>
            <a:ext cx="457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Campus FoodShare — UML Modelling &amp; Software Architecture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FSE Coursework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12000" y="228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12000" y="2857500"/>
            <a:ext cx="3810000" cy="0"/>
          </a:xfrm>
          <a:prstGeom prst="straightConnector1">
            <a:avLst/>
          </a:prstGeom>
          <a:noFill/>
          <a:ln w="25400">
            <a:solidFill>
              <a:srgbClr val="0D8B7D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112000" y="3111500"/>
            <a:ext cx="825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Martin, R. C. (2018). </a:t>
            </a:r>
            <a:r>
              <a:rPr lang="en-US" sz="1400" i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Clean Architecture: A Craftsman's Guide to Software Structure and Design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Prentice Hall.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Fowler, M. (2002). </a:t>
            </a:r>
            <a:r>
              <a:rPr lang="en-US" sz="1400" i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Patterns of Enterprise Application Architecture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Addison-Wesley.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Myers, G. J., Sandler, C., &amp; Badgett, T. (2011). </a:t>
            </a:r>
            <a:r>
              <a:rPr lang="en-US" sz="1400" i="1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Art of Software Testing</a:t>
            </a:r>
            <a:r>
              <a:rPr lang="en-US" sz="14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(3rd ed.). Wiley.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12000" y="5842000"/>
            <a:ext cx="8255000" cy="1841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7366000" y="5969000"/>
            <a:ext cx="774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8B7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Deliverables Summary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66000" y="6350000"/>
            <a:ext cx="774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UML Use Case &amp; Class Diagrams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Layered Architecture Design with MVC Pattern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12 Unit Test Cases (4 Domain Classes)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33333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■ Three-Tier Testing Strategy &amp; Version Control Plan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6000" y="9067800"/>
            <a:ext cx="10160000" cy="76200"/>
          </a:xfrm>
          <a:prstGeom prst="rect">
            <a:avLst/>
          </a:prstGeom>
          <a:solidFill>
            <a:srgbClr val="0D8B7D"/>
          </a:solidFill>
          <a:ln/>
        </p:spPr>
      </p:sp>
      <p:sp>
        <p:nvSpPr>
          <p:cNvPr id="13" name="文本框 10">
            <a:extLst>
              <a:ext uri="{FF2B5EF4-FFF2-40B4-BE49-F238E27FC236}">
                <a16:creationId xmlns:a16="http://schemas.microsoft.com/office/drawing/2014/main" id="{ABD42111-ED8A-1387-33BE-E39EED6B904E}"/>
              </a:ext>
            </a:extLst>
          </p:cNvPr>
          <p:cNvSpPr txBox="1"/>
          <p:nvPr/>
        </p:nvSpPr>
        <p:spPr>
          <a:xfrm>
            <a:off x="13320486" y="8190984"/>
            <a:ext cx="269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17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2058</Words>
  <Application>Microsoft Office PowerPoint</Application>
  <PresentationFormat>自定义</PresentationFormat>
  <Paragraphs>424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Liter</vt:lpstr>
      <vt:lpstr>MiSans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FoodShare Platform — UML Modelling &amp; Software Architecture</dc:title>
  <dc:subject>Campus FoodShare Platform — UML Modelling &amp; Software Architecture</dc:subject>
  <dc:creator>Kimi</dc:creator>
  <cp:lastModifiedBy>ZONG JI</cp:lastModifiedBy>
  <cp:revision>4</cp:revision>
  <dcterms:created xsi:type="dcterms:W3CDTF">2026-06-25T00:51:40Z</dcterms:created>
  <dcterms:modified xsi:type="dcterms:W3CDTF">2026-06-25T05:05:30Z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{"Label":"Campus FoodShare Platform — UML Modelling &amp; Software Architecture","ContentProducer":"001191110108MACG2KBH8F10000","ProduceID":"19efc334-da42-8d02-8000-000082e9cdbe","ReservedCode1":"","ContentPropagator":"001191110108MACG2KBH8F20000","PropagateID":"19efc313-43c2-863a-8000-0958b10d9c25","ReservedCode2":""}</vt:lpwstr>
  </property>
</Properties>
</file>